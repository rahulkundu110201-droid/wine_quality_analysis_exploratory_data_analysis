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ffe7ec-bb66-c9b8-ff71-2bb1e3bdee8c}">
          <p14:sldIdLst>
            <p14:sldId id="256"/>
            <p14:sldId id="257"/>
            <p14:sldId id="258"/>
          </p14:sldIdLst>
        </p14:section>
        <p14:section name="Analysis" id="{eb70536b-1474-2e05-4fb4-1fe4300d694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nclusions" id="{eaf2943b-df9b-b3e0-42e6-c95bbaf7de7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1A2E"/>
                </a:solidFill>
                <a:latin typeface="+mn-lt"/>
              </a:rPr>
              <a:t>Number of wines by quality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Wines</c:v>
                </c:pt>
              </c:strCache>
            </c:strRef>
          </c:tx>
          <c:spPr>
            <a:solidFill>
              <a:srgbClr val="E3C9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C9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C9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C9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C9D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483</c:v>
                </c:pt>
                <c:pt idx="3">
                  <c:v>462</c:v>
                </c:pt>
                <c:pt idx="4">
                  <c:v>143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A5C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7A5C66"/>
                    </a:solidFill>
                    <a:latin typeface="Arial"/>
                  </a:rPr>
                  <a:t>Quality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5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0"/>
        </c:scaling>
        <c:delete val="0"/>
        <c:axPos val="l"/>
        <c:majorGridlines>
          <c:spPr>
            <a:ln w="6350" cap="flat">
              <a:solidFill>
                <a:srgbClr val="E9DA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5C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1A2E"/>
                </a:solidFill>
                <a:latin typeface="+mn-lt"/>
              </a:rPr>
              <a:t>Skewness of each feature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8E2C4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chlorides</c:v>
                  </c:pt>
                  <c:pt idx="1">
                    <c:v>residual sugar</c:v>
                  </c:pt>
                  <c:pt idx="2">
                    <c:v>sulphates</c:v>
                  </c:pt>
                  <c:pt idx="3">
                    <c:v>total sulfur dioxide</c:v>
                  </c:pt>
                  <c:pt idx="4">
                    <c:v>free sulfur dioxide</c:v>
                  </c:pt>
                  <c:pt idx="5">
                    <c:v>fixed acidity</c:v>
                  </c:pt>
                  <c:pt idx="6">
                    <c:v>alcohol</c:v>
                  </c:pt>
                  <c:pt idx="7">
                    <c:v>volatile acidity</c:v>
                  </c:pt>
                  <c:pt idx="8">
                    <c:v>citric acid</c:v>
                  </c:pt>
                  <c:pt idx="9">
                    <c:v>pH</c:v>
                  </c:pt>
                  <c:pt idx="10">
                    <c:v>density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6.03</c:v>
                </c:pt>
                <c:pt idx="1">
                  <c:v>4.36</c:v>
                </c:pt>
                <c:pt idx="2">
                  <c:v>2.5</c:v>
                </c:pt>
                <c:pt idx="3">
                  <c:v>1.67</c:v>
                </c:pt>
                <c:pt idx="4">
                  <c:v>1.23</c:v>
                </c:pt>
                <c:pt idx="5">
                  <c:v>1.04</c:v>
                </c:pt>
                <c:pt idx="6">
                  <c:v>0.86</c:v>
                </c:pt>
                <c:pt idx="7">
                  <c:v>0.68</c:v>
                </c:pt>
                <c:pt idx="8">
                  <c:v>0.37</c:v>
                </c:pt>
                <c:pt idx="9">
                  <c:v>0.22</c:v>
                </c:pt>
                <c:pt idx="10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A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5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majorGridlines>
          <c:spPr>
            <a:ln w="6350" cap="flat">
              <a:solidFill>
                <a:srgbClr val="E9DA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5C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1A2E"/>
                </a:solidFill>
                <a:latin typeface="+mn-lt"/>
              </a:rPr>
              <a:t>Correlation with quality (burgundy: positive, gold: negative)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quality</c:v>
                </c:pt>
              </c:strCache>
            </c:strRef>
          </c:tx>
          <c:spPr>
            <a:solidFill>
              <a:srgbClr val="8E2C48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5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A24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E2C48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alcohol</c:v>
                  </c:pt>
                  <c:pt idx="1">
                    <c:v>volatile acidity</c:v>
                  </c:pt>
                  <c:pt idx="2">
                    <c:v>sulphates</c:v>
                  </c:pt>
                  <c:pt idx="3">
                    <c:v>citric acid</c:v>
                  </c:pt>
                  <c:pt idx="4">
                    <c:v>total sulfur dioxide</c:v>
                  </c:pt>
                  <c:pt idx="5">
                    <c:v>density</c:v>
                  </c:pt>
                  <c:pt idx="6">
                    <c:v>fixed acidity</c:v>
                  </c:pt>
                  <c:pt idx="7">
                    <c:v>chlorides</c:v>
                  </c:pt>
                  <c:pt idx="8">
                    <c:v>free sulfur dioxide</c:v>
                  </c:pt>
                  <c:pt idx="9">
                    <c:v>pH</c:v>
                  </c:pt>
                  <c:pt idx="10">
                    <c:v>residual sugar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0.48</c:v>
                </c:pt>
                <c:pt idx="1">
                  <c:v>-0.41</c:v>
                </c:pt>
                <c:pt idx="2">
                  <c:v>0.26</c:v>
                </c:pt>
                <c:pt idx="3">
                  <c:v>0.24</c:v>
                </c:pt>
                <c:pt idx="4">
                  <c:v>-0.18</c:v>
                </c:pt>
                <c:pt idx="5">
                  <c:v>-0.18</c:v>
                </c:pt>
                <c:pt idx="6">
                  <c:v>0.12</c:v>
                </c:pt>
                <c:pt idx="7">
                  <c:v>-0.12</c:v>
                </c:pt>
                <c:pt idx="8">
                  <c:v>-0.06</c:v>
                </c:pt>
                <c:pt idx="9">
                  <c:v>-0.05</c:v>
                </c:pt>
                <c:pt idx="10">
                  <c:v>0.02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200" u="none">
                  <a:solidFill>
                    <a:srgbClr val="2A15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5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6"/>
        </c:scaling>
        <c:delete val="1"/>
        <c:axPos val="b"/>
        <c:majorGridlines>
          <c:spPr>
            <a:ln w="6350" cap="flat">
              <a:solidFill>
                <a:srgbClr val="E9DA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5C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report for the WineQT exploratory analysis notebook: what the data looks like and which chemical properties relate to wine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1,143 rows and 13 columns, with no missing values and no duplicate rows, so no cleaning was needed before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steps, all done in Python with pandas, matplotlib and seaborn: inspect, check data quality, look at distributions, compare features against quality, then correlations.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by quality score: 3 = 6, 4 = 33, 5 = 483, 6 = 462, 7 = 143, 8 = 16 (read from the notebook's count plot; they total 1,143). Mean quality is 5.66.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Skewness values come from the titles of the notebook's histogram grid. Values above 1 indicate a strong right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Mean, standard deviation, minimum and maximum for the 11 chemical features, from df.describe().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Medians are read from the notebook's box plot and are approximate. The notebook also has a violin plot and a swarm plot of alcohol.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taken from the quality row of the notebook's correlation heatmap. The Id column is excluded because it is only a row identifier.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are read from the notebook's correlation heatmap. Burgundy bars are positive correlations, gold bars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exploratory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follow-up work. One housekeeping item in the notebook: quality was converted to a string for the violin and box plots, which is why the box plot categories are not in numeric order. Convert it back, or set the plot order, before modelling.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103120"/>
            <a:ext cx="69494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97764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Wine Quality  |  Exploratory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Wine Quality  |  Exploratory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10312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Wine Quality Analysis</a:t>
            </a:r>
            <a:endParaRPr lang="en-US" sz="5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977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Exploratory data analysis of 1,143 wine samples from the WineQT dataset</a:t>
            </a:r>
            <a:endParaRPr lang="en-US" sz="1800" dirty="0"/>
          </a:p>
        </p:txBody>
      </p:sp>
      <p:sp>
        <p:nvSpPr>
          <p:cNvPr id="4" name="Title circle"/>
          <p:cNvSpPr/>
          <p:nvPr/>
        </p:nvSpPr>
        <p:spPr>
          <a:xfrm>
            <a:off x="8229600" y="146304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 wine glass icon" descr="Wine gla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24028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Project at a glance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Objective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out which physicochemical properties of a wine relate to the quality score (3 to 8) given by tasters, as groundwork for a predictive model.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About the data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11 chemical measurements per wine, such as acidity, sugar, sulphates and alcohol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quality, an integer score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 is only a row identifier</a:t>
            </a:r>
            <a:endParaRPr lang="en-US" sz="1600" dirty="0"/>
          </a:p>
        </p:txBody>
      </p:sp>
      <p:sp>
        <p:nvSpPr>
          <p:cNvPr id="7" name="Stat card 1"/>
          <p:cNvSpPr/>
          <p:nvPr/>
        </p:nvSpPr>
        <p:spPr>
          <a:xfrm>
            <a:off x="621792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1,143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wine samples</a:t>
            </a:r>
            <a:endParaRPr lang="en-US" sz="1600" dirty="0"/>
          </a:p>
        </p:txBody>
      </p:sp>
      <p:sp>
        <p:nvSpPr>
          <p:cNvPr id="10" name="Stat card 2"/>
          <p:cNvSpPr/>
          <p:nvPr/>
        </p:nvSpPr>
        <p:spPr>
          <a:xfrm>
            <a:off x="905256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columns in total</a:t>
            </a:r>
            <a:endParaRPr lang="en-US" sz="1600" dirty="0"/>
          </a:p>
        </p:txBody>
      </p:sp>
      <p:sp>
        <p:nvSpPr>
          <p:cNvPr id="13" name="Stat card 3"/>
          <p:cNvSpPr/>
          <p:nvPr/>
        </p:nvSpPr>
        <p:spPr>
          <a:xfrm>
            <a:off x="6217920" y="3840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206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missing values</a:t>
            </a:r>
            <a:endParaRPr lang="en-US" sz="1600" dirty="0"/>
          </a:p>
        </p:txBody>
      </p:sp>
      <p:sp>
        <p:nvSpPr>
          <p:cNvPr id="16" name="Stat card 4"/>
          <p:cNvSpPr/>
          <p:nvPr/>
        </p:nvSpPr>
        <p:spPr>
          <a:xfrm>
            <a:off x="9052560" y="384048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4206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duplicate rows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the analysis was done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035454" cy="365760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1758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 and inspect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1578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Preview rows, shape, data types and summary statistics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812694" y="1645920"/>
            <a:ext cx="2035454" cy="365760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0" name="Step 2 circle"/>
          <p:cNvSpPr/>
          <p:nvPr/>
        </p:nvSpPr>
        <p:spPr>
          <a:xfrm>
            <a:off x="3087014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869" y="21758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87014" y="301752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087014" y="333756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quality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87014" y="4206240"/>
            <a:ext cx="1578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 missing values and duplicate rows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5076749" y="1645920"/>
            <a:ext cx="2035454" cy="365760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6" name="Step 3 circle"/>
          <p:cNvSpPr/>
          <p:nvPr/>
        </p:nvSpPr>
        <p:spPr>
          <a:xfrm>
            <a:off x="5351069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924" y="217581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51069" y="301752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351069" y="333756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Study distributions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351069" y="4206240"/>
            <a:ext cx="1578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Histograms with skewness, plus a swarm plot of alcohol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7340803" y="1645920"/>
            <a:ext cx="2035454" cy="365760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2" name="Step 4 circle"/>
          <p:cNvSpPr/>
          <p:nvPr/>
        </p:nvSpPr>
        <p:spPr>
          <a:xfrm>
            <a:off x="7615123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978" y="2175815"/>
            <a:ext cx="357530" cy="3575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5123" y="301752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615123" y="333756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Compare by quality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615123" y="4206240"/>
            <a:ext cx="1578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Violin and box plots of alcohol for each quality score</a:t>
            </a:r>
            <a:endParaRPr lang="en-US" sz="1400" dirty="0"/>
          </a:p>
        </p:txBody>
      </p:sp>
      <p:sp>
        <p:nvSpPr>
          <p:cNvPr id="27" name="Step card 5"/>
          <p:cNvSpPr/>
          <p:nvPr/>
        </p:nvSpPr>
        <p:spPr>
          <a:xfrm>
            <a:off x="9604858" y="1645920"/>
            <a:ext cx="2035454" cy="365760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8" name="Step 5 circle"/>
          <p:cNvSpPr/>
          <p:nvPr/>
        </p:nvSpPr>
        <p:spPr>
          <a:xfrm>
            <a:off x="9879178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Step 5 icon" descr="Step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9032" y="2175815"/>
            <a:ext cx="357530" cy="3575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79178" y="301752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879178" y="3337560"/>
            <a:ext cx="1578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Map correlations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79178" y="4206240"/>
            <a:ext cx="157825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Pair plot and correlation heatmap of all columns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Most wines score 5 or 6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1"/>
          <p:cNvSpPr/>
          <p:nvPr/>
        </p:nvSpPr>
        <p:spPr>
          <a:xfrm>
            <a:off x="7772400" y="1463040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83%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wines are rated 5 or 6</a:t>
            </a:r>
            <a:endParaRPr lang="en-US" sz="1400" dirty="0"/>
          </a:p>
        </p:txBody>
      </p:sp>
      <p:sp>
        <p:nvSpPr>
          <p:cNvPr id="7" name="Callout 2"/>
          <p:cNvSpPr/>
          <p:nvPr/>
        </p:nvSpPr>
        <p:spPr>
          <a:xfrm>
            <a:off x="7772400" y="3063240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3246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rated at the extremes (3 or 8)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754880"/>
            <a:ext cx="3867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target is imbalanced. Grades 3, 4 and 8 have very few examples, so a model will find them hard to predict.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Several features are right-skewed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few extreme values stretch the tail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1965960"/>
            <a:ext cx="38679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Chlorides peak at 0.611, against a median of 0.079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Residual sugar reaches 15.5, against a median of 2.2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Sulphates reach 2.0, against a median of 0.62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Density and pH are close to symmetric</a:t>
            </a:r>
            <a:endParaRPr lang="en-US" sz="1500" dirty="0"/>
          </a:p>
        </p:txBody>
      </p:sp>
      <p:sp>
        <p:nvSpPr>
          <p:cNvPr id="6" name="Implication card"/>
          <p:cNvSpPr/>
          <p:nvPr/>
        </p:nvSpPr>
        <p:spPr>
          <a:xfrm>
            <a:off x="7772400" y="4709160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4892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Implication: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consider log transforms or robust scaling before fitting linear models.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Summary statistics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fixed acidity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8.31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1.75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4.60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15.90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volatile acidity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0.531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0.180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0.120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1.580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citric acid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0.268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0.197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residual sugar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2.53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1.36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0.90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15.50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chlorides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0.087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0.047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0.012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0.611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free sulfur dioxide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15.6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10.3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68.0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total sulfur dioxide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45.9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32.8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6.0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289.0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density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0.9967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0.0019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0.9901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1.0037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pH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3.31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0.157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2.74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4.01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sulphates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0.658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0.170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0.330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2.000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1520"/>
                          </a:solidFill>
                        </a:rPr>
                        <a:t>alcohol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10.44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1.08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8.40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1520"/>
                          </a:solidFill>
                        </a:rPr>
                        <a:t>14.90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nsight card 1"/>
          <p:cNvSpPr/>
          <p:nvPr/>
        </p:nvSpPr>
        <p:spPr>
          <a:xfrm>
            <a:off x="8229600" y="1463040"/>
            <a:ext cx="341071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03920" y="1645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Total sulfur dioxide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 the widest spread, from 6 to 289</a:t>
            </a:r>
            <a:endParaRPr lang="en-US" sz="1500" dirty="0"/>
          </a:p>
        </p:txBody>
      </p:sp>
      <p:sp>
        <p:nvSpPr>
          <p:cNvPr id="6" name="Insight card 2"/>
          <p:cNvSpPr/>
          <p:nvPr/>
        </p:nvSpPr>
        <p:spPr>
          <a:xfrm>
            <a:off x="8229600" y="2971800"/>
            <a:ext cx="341071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315468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Density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barely varies (std dev 0.0019)</a:t>
            </a:r>
            <a:endParaRPr lang="en-US" sz="1500" dirty="0"/>
          </a:p>
        </p:txBody>
      </p:sp>
      <p:sp>
        <p:nvSpPr>
          <p:cNvPr id="8" name="Insight card 3"/>
          <p:cNvSpPr/>
          <p:nvPr/>
        </p:nvSpPr>
        <p:spPr>
          <a:xfrm>
            <a:off x="8229600" y="4480560"/>
            <a:ext cx="341071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46634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Alcohol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ranges from 8.4% to 14.9%, mean 10.4%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Better wines tend to have more alcohol</a:t>
            </a:r>
            <a:endParaRPr lang="en-US" sz="3600" dirty="0"/>
          </a:p>
        </p:txBody>
      </p:sp>
      <p:pic>
        <p:nvPicPr>
          <p:cNvPr id="3" name="Alcohol by quality boxplot" descr="Box plot of alcohol percentage for each wine quality s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52160" cy="4499241"/>
          </a:xfrm>
          <a:prstGeom prst="rect">
            <a:avLst/>
          </a:prstGeom>
        </p:spPr>
      </p:pic>
      <p:sp>
        <p:nvSpPr>
          <p:cNvPr id="4" name="Correlation callout"/>
          <p:cNvSpPr/>
          <p:nvPr/>
        </p:nvSpPr>
        <p:spPr>
          <a:xfrm>
            <a:off x="6949440" y="1463040"/>
            <a:ext cx="46908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22376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+0.48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correlation between alcohol and quality, the strongest positive link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3246120"/>
            <a:ext cx="4690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Median alcohol rises from about 9.7% for quality 5 to about 10.5% for 6 and about 11.6% for 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Quality 5 has many high-alcohol outliers, so alcohol alone does not decide the score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Grades 3 and 4 have few samples, so their boxes are less reliable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relates to quality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4630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Raises quality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187452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Alcohol (+0.48), sulphates (+0.26), citric acid (+0.24)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92608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Lowers quality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33756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Volatile acidity (-0.41), total sulfur dioxide (-0.18), density (-0.18)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3891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Little effect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800600"/>
            <a:ext cx="3867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Residual sugar (+0.02), pH (-0.05), free sulfur dioxide (-0.06)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66928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 correlation passes 0.5, and correlation does not prove cause.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Several features move together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Strongest feature-to-feature correlations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acidity and pH</a:t>
            </a:r>
            <a:endParaRPr lang="en-US" sz="1500" dirty="0"/>
          </a:p>
        </p:txBody>
      </p:sp>
      <p:sp>
        <p:nvSpPr>
          <p:cNvPr id="5" name="Bar track 1"/>
          <p:cNvSpPr/>
          <p:nvPr/>
        </p:nvSpPr>
        <p:spPr>
          <a:xfrm>
            <a:off x="3749040" y="2066544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6" name="Bar 1"/>
          <p:cNvSpPr/>
          <p:nvPr/>
        </p:nvSpPr>
        <p:spPr>
          <a:xfrm>
            <a:off x="3749040" y="2066544"/>
            <a:ext cx="2343477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2011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-0.69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968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acidity and density</a:t>
            </a:r>
            <a:endParaRPr lang="en-US" sz="1500" dirty="0"/>
          </a:p>
        </p:txBody>
      </p:sp>
      <p:sp>
        <p:nvSpPr>
          <p:cNvPr id="9" name="Bar track 2"/>
          <p:cNvSpPr/>
          <p:nvPr/>
        </p:nvSpPr>
        <p:spPr>
          <a:xfrm>
            <a:off x="3749040" y="2651760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0" name="Bar 2"/>
          <p:cNvSpPr/>
          <p:nvPr/>
        </p:nvSpPr>
        <p:spPr>
          <a:xfrm>
            <a:off x="3749040" y="2651760"/>
            <a:ext cx="2309513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5968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+0.68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821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acidity and citric acid</a:t>
            </a:r>
            <a:endParaRPr lang="en-US" sz="1500" dirty="0"/>
          </a:p>
        </p:txBody>
      </p:sp>
      <p:sp>
        <p:nvSpPr>
          <p:cNvPr id="13" name="Bar track 3"/>
          <p:cNvSpPr/>
          <p:nvPr/>
        </p:nvSpPr>
        <p:spPr>
          <a:xfrm>
            <a:off x="3749040" y="3236976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4" name="Bar 3"/>
          <p:cNvSpPr/>
          <p:nvPr/>
        </p:nvSpPr>
        <p:spPr>
          <a:xfrm>
            <a:off x="3749040" y="3236976"/>
            <a:ext cx="227555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1821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+0.67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67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and total sulfur dioxide</a:t>
            </a:r>
            <a:endParaRPr lang="en-US" sz="1500" dirty="0"/>
          </a:p>
        </p:txBody>
      </p:sp>
      <p:sp>
        <p:nvSpPr>
          <p:cNvPr id="17" name="Bar track 4"/>
          <p:cNvSpPr/>
          <p:nvPr/>
        </p:nvSpPr>
        <p:spPr>
          <a:xfrm>
            <a:off x="3749040" y="3822192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8" name="Bar 4"/>
          <p:cNvSpPr/>
          <p:nvPr/>
        </p:nvSpPr>
        <p:spPr>
          <a:xfrm>
            <a:off x="3749040" y="3822192"/>
            <a:ext cx="2241586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37673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+0.66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525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citric acid and pH</a:t>
            </a:r>
            <a:endParaRPr lang="en-US" sz="1500" dirty="0"/>
          </a:p>
        </p:txBody>
      </p:sp>
      <p:sp>
        <p:nvSpPr>
          <p:cNvPr id="21" name="Bar track 5"/>
          <p:cNvSpPr/>
          <p:nvPr/>
        </p:nvSpPr>
        <p:spPr>
          <a:xfrm>
            <a:off x="3749040" y="4407408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2" name="Bar 5"/>
          <p:cNvSpPr/>
          <p:nvPr/>
        </p:nvSpPr>
        <p:spPr>
          <a:xfrm>
            <a:off x="3749040" y="4407408"/>
            <a:ext cx="1867989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43525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-0.55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37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volatile and citric acid</a:t>
            </a:r>
            <a:endParaRPr lang="en-US" sz="1500" dirty="0"/>
          </a:p>
        </p:txBody>
      </p:sp>
      <p:sp>
        <p:nvSpPr>
          <p:cNvPr id="25" name="Bar track 6"/>
          <p:cNvSpPr/>
          <p:nvPr/>
        </p:nvSpPr>
        <p:spPr>
          <a:xfrm>
            <a:off x="3749040" y="4992624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6" name="Bar 6"/>
          <p:cNvSpPr/>
          <p:nvPr/>
        </p:nvSpPr>
        <p:spPr>
          <a:xfrm>
            <a:off x="3749040" y="4992624"/>
            <a:ext cx="1834025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0" y="4937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-0.54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22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density and alcohol</a:t>
            </a:r>
            <a:endParaRPr lang="en-US" sz="1500" dirty="0"/>
          </a:p>
        </p:txBody>
      </p:sp>
      <p:sp>
        <p:nvSpPr>
          <p:cNvPr id="29" name="Bar track 7"/>
          <p:cNvSpPr/>
          <p:nvPr/>
        </p:nvSpPr>
        <p:spPr>
          <a:xfrm>
            <a:off x="3749040" y="5577840"/>
            <a:ext cx="274320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30" name="Bar 7"/>
          <p:cNvSpPr/>
          <p:nvPr/>
        </p:nvSpPr>
        <p:spPr>
          <a:xfrm>
            <a:off x="3749040" y="5577840"/>
            <a:ext cx="16642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55229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-0.49</a:t>
            </a:r>
            <a:endParaRPr lang="en-US" sz="1500" dirty="0"/>
          </a:p>
        </p:txBody>
      </p:sp>
      <p:sp>
        <p:nvSpPr>
          <p:cNvPr id="32" name="Why it matters card"/>
          <p:cNvSpPr/>
          <p:nvPr/>
        </p:nvSpPr>
        <p:spPr>
          <a:xfrm>
            <a:off x="8138160" y="1463040"/>
            <a:ext cx="3502152" cy="448056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</p:spPr>
      </p:sp>
      <p:sp>
        <p:nvSpPr>
          <p:cNvPr id="33" name="Why it matters circle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Why it matters icon" descr="Why it mat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9990" y="1934870"/>
            <a:ext cx="336499" cy="336499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84124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841248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Acidity measures overlap with each other, with density and with pH. In a linear model this makes coefficients unstable. Regularisation, tree-based models, or dropping redundant features can help.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Finding card 1"/>
          <p:cNvSpPr/>
          <p:nvPr/>
        </p:nvSpPr>
        <p:spPr>
          <a:xfrm>
            <a:off x="548640" y="1554480"/>
            <a:ext cx="5422392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Finding 1 circle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inding 1 icon" descr="Findi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21300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Clean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1,143 rows with no missing values and no duplicates.</a:t>
            </a:r>
            <a:endParaRPr lang="en-US" sz="1500" dirty="0"/>
          </a:p>
        </p:txBody>
      </p:sp>
      <p:sp>
        <p:nvSpPr>
          <p:cNvPr id="8" name="Finding card 2"/>
          <p:cNvSpPr/>
          <p:nvPr/>
        </p:nvSpPr>
        <p:spPr>
          <a:xfrm>
            <a:off x="6217920" y="1554480"/>
            <a:ext cx="5422392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Finding 2 circle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inding 2 icon" descr="Findi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815" y="213009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Imbalanced target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About 83% of wines score 5 or 6; grades 3, 4 and 8 are rare.</a:t>
            </a:r>
            <a:endParaRPr lang="en-US" sz="1500" dirty="0"/>
          </a:p>
        </p:txBody>
      </p:sp>
      <p:sp>
        <p:nvSpPr>
          <p:cNvPr id="13" name="Finding card 3"/>
          <p:cNvSpPr/>
          <p:nvPr/>
        </p:nvSpPr>
        <p:spPr>
          <a:xfrm>
            <a:off x="548640" y="3886200"/>
            <a:ext cx="5422392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4" name="Finding 3 circle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inding 3 icon" descr="Findi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446181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Alcohol leads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709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Alcohol is the strongest positive signal (+0.48); volatile acidity is the strongest negative (-0.41).</a:t>
            </a:r>
            <a:endParaRPr lang="en-US" sz="1500" dirty="0"/>
          </a:p>
        </p:txBody>
      </p:sp>
      <p:sp>
        <p:nvSpPr>
          <p:cNvPr id="18" name="Finding card 4"/>
          <p:cNvSpPr/>
          <p:nvPr/>
        </p:nvSpPr>
        <p:spPr>
          <a:xfrm>
            <a:off x="6217920" y="3886200"/>
            <a:ext cx="5422392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9" name="Finding 4 circle"/>
          <p:cNvSpPr/>
          <p:nvPr/>
        </p:nvSpPr>
        <p:spPr>
          <a:xfrm>
            <a:off x="6537960" y="4251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inding 4 icon" descr="Findi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815" y="4461815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Moderate links only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709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 single feature dominates, and several features are correlated with each other.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Next step card 1"/>
          <p:cNvSpPr/>
          <p:nvPr/>
        </p:nvSpPr>
        <p:spPr>
          <a:xfrm>
            <a:off x="548640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</p:spPr>
      </p:sp>
      <p:sp>
        <p:nvSpPr>
          <p:cNvPr id="4" name="Next step 1 circle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ext step 1 icon" descr="Next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203865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 the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 Id, which is only a row identifier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Transform skewed features: chlorides, residual sugar, sulphates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Scale features before modelling</a:t>
            </a:r>
            <a:endParaRPr lang="en-US" sz="1500" dirty="0"/>
          </a:p>
        </p:txBody>
      </p:sp>
      <p:sp>
        <p:nvSpPr>
          <p:cNvPr id="8" name="Next step card 2"/>
          <p:cNvSpPr/>
          <p:nvPr/>
        </p:nvSpPr>
        <p:spPr>
          <a:xfrm>
            <a:off x="4343400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</p:spPr>
      </p:sp>
      <p:sp>
        <p:nvSpPr>
          <p:cNvPr id="9" name="Next step 2 circle"/>
          <p:cNvSpPr/>
          <p:nvPr/>
        </p:nvSpPr>
        <p:spPr>
          <a:xfrm>
            <a:off x="466344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xt step 2 icon" descr="Next 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95" y="203865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Frame the target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Choose regression, or group scores into low, medium and high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a stratified train/test split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class weights or resampling for rare grades</a:t>
            </a:r>
            <a:endParaRPr lang="en-US" sz="1500" dirty="0"/>
          </a:p>
        </p:txBody>
      </p:sp>
      <p:sp>
        <p:nvSpPr>
          <p:cNvPr id="13" name="Next step card 3"/>
          <p:cNvSpPr/>
          <p:nvPr/>
        </p:nvSpPr>
        <p:spPr>
          <a:xfrm>
            <a:off x="8138160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</p:spPr>
      </p:sp>
      <p:sp>
        <p:nvSpPr>
          <p:cNvPr id="14" name="Next step 3 circle"/>
          <p:cNvSpPr/>
          <p:nvPr/>
        </p:nvSpPr>
        <p:spPr>
          <a:xfrm>
            <a:off x="845820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xt step 3 icon" descr="Next 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055" y="203865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 and evaluate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4290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Start with a linear baseline, then Random Forest and gradient boosting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cross-validation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 F1 or RMSE and feature importance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e Report">
  <a:themeElements>
    <a:clrScheme name="Wine Report">
      <a:dk1>
        <a:srgbClr val="2A1520"/>
      </a:dk1>
      <a:lt1>
        <a:srgbClr val="FFFFFF"/>
      </a:lt1>
      <a:dk2>
        <a:srgbClr val="5B1A2E"/>
      </a:dk2>
      <a:lt2>
        <a:srgbClr val="F8F1F3"/>
      </a:lt2>
      <a:accent1>
        <a:srgbClr val="8E2C48"/>
      </a:accent1>
      <a:accent2>
        <a:srgbClr val="C9A24D"/>
      </a:accent2>
      <a:accent3>
        <a:srgbClr val="5E7F5A"/>
      </a:accent3>
      <a:accent4>
        <a:srgbClr val="B85C6E"/>
      </a:accent4>
      <a:accent5>
        <a:srgbClr val="7A5C66"/>
      </a:accent5>
      <a:accent6>
        <a:srgbClr val="E3C9D0"/>
      </a:accent6>
      <a:hlink>
        <a:srgbClr val="8E2C48"/>
      </a:hlink>
      <a:folHlink>
        <a:srgbClr val="7A5C66"/>
      </a:folHlink>
    </a:clrScheme>
    <a:fontScheme name="Wine Rep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Analysis</dc:title>
  <dc:subject>PptxGenJS Presentation</dc:subject>
  <dc:creator>PptxGenJS</dc:creator>
  <cp:lastModifiedBy>PptxGenJS</cp:lastModifiedBy>
  <cp:revision>1</cp:revision>
  <dcterms:created xsi:type="dcterms:W3CDTF">2026-10-08T05:30:16Z</dcterms:created>
  <dcterms:modified xsi:type="dcterms:W3CDTF">2026-10-08T05:30:16Z</dcterms:modified>
</cp:coreProperties>
</file>