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Lst>
  <p:notesMasterIdLst>
    <p:notesMasterId r:id="rId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roblem Statement" id="{af5b5d02-99fc-b02a-b8fd-0b2d672348c7}">
          <p14:sldIdLst>
            <p14:sldId id="256"/>
            <p14:sldId id="257"/>
            <p14:sldId id="258"/>
            <p14:sldId id="25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the question matters and the exact question the project answers.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objectives, in the order the analysis was carried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the project covers, what it leaves for later, and what it should deliver.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chemeClr val="tx2"/>
          </a:solidFill>
          <a:ln/>
        </p:spPr>
      </p:sp>
      <p:sp>
        <p:nvSpPr>
          <p:cNvPr id="3" name="Text 1"/>
          <p:cNvSpPr/>
          <p:nvPr>
            <p:ph idx="101" type="title" hasCustomPrompt="1"/>
          </p:nvPr>
        </p:nvSpPr>
        <p:spPr>
          <a:xfrm>
            <a:off x="822960" y="2103120"/>
            <a:ext cx="6949440" cy="1645920"/>
          </a:xfrm>
          <a:prstGeom prst="rect">
            <a:avLst/>
          </a:prstGeom>
          <a:noFill/>
          <a:ln/>
        </p:spPr>
        <p:txBody>
          <a:bodyPr wrap="square" rtlCol="0"/>
          <a:lstStyle>
            <a:lvl1pPr algn="l" indent="0" marL="0">
              <a:buNone/>
              <a:defRPr lang="en-US" sz="5200" b="1" dirty="0">
                <a:solidFill>
                  <a:schemeClr val="bg1"/>
                </a:solidFill>
              </a:defRPr>
            </a:lvl1pPr>
          </a:lstStyle>
          <a:p>
            <a:pPr algn="l" indent="0" marL="0">
              <a:buNone/>
            </a:pPr>
            <a:endParaRPr lang="en-US" sz="5200" dirty="0"/>
          </a:p>
        </p:txBody>
      </p:sp>
      <p:sp>
        <p:nvSpPr>
          <p:cNvPr id="4" name="Text 1"/>
          <p:cNvSpPr/>
          <p:nvPr>
            <p:ph idx="102" type="body" hasCustomPrompt="1"/>
          </p:nvPr>
        </p:nvSpPr>
        <p:spPr>
          <a:xfrm>
            <a:off x="822960" y="3977640"/>
            <a:ext cx="6400800" cy="1097280"/>
          </a:xfrm>
          <a:prstGeom prst="rect">
            <a:avLst/>
          </a:prstGeom>
          <a:noFill/>
          <a:ln/>
        </p:spPr>
        <p:txBody>
          <a:bodyPr wrap="square" rtlCol="0"/>
          <a:lstStyle>
            <a:lvl1pPr algn="l" indent="0" marL="0">
              <a:buNone/>
              <a:defRPr lang="en-US" sz="1800" dirty="0">
                <a:solidFill>
                  <a:schemeClr val="bg2"/>
                </a:solidFill>
              </a:defRPr>
            </a:lvl1pPr>
          </a:lstStyle>
          <a:p>
            <a:pPr algn="l"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22960"/>
          </a:xfrm>
          <a:prstGeom prst="rect">
            <a:avLst/>
          </a:prstGeom>
          <a:noFill/>
          <a:ln/>
        </p:spPr>
        <p:txBody>
          <a:bodyPr wrap="square" rtlCol="0"/>
          <a:lstStyle>
            <a:lvl1pPr algn="l" indent="0" marL="0">
              <a:buNone/>
              <a:defRPr lang="en-US" sz="3600" b="1" dirty="0">
                <a:solidFill>
                  <a:schemeClr val="tx2"/>
                </a:solidFill>
              </a:defRPr>
            </a:lvl1pPr>
          </a:lstStyle>
          <a:p>
            <a:pPr algn="l" indent="0" marL="0">
              <a:buNone/>
            </a:pPr>
            <a:endParaRPr lang="en-US" sz="3600" dirty="0"/>
          </a:p>
        </p:txBody>
      </p:sp>
      <p:sp>
        <p:nvSpPr>
          <p:cNvPr id="3"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chemeClr val="accent5"/>
                </a:solidFill>
              </a:rPr>
              <a:t>Wine Quality  |  Exploratory Data Analysis</a:t>
            </a:r>
            <a:endParaRPr lang="en-US" sz="10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_DARK">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chemeClr val="tx2"/>
          </a:solidFill>
          <a:ln/>
        </p:spPr>
      </p:sp>
      <p:sp>
        <p:nvSpPr>
          <p:cNvPr id="3" name="Text 1"/>
          <p:cNvSpPr/>
          <p:nvPr>
            <p:ph idx="101" type="title" hasCustomPrompt="1"/>
          </p:nvPr>
        </p:nvSpPr>
        <p:spPr>
          <a:xfrm>
            <a:off x="548640" y="365760"/>
            <a:ext cx="11091672" cy="82296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4" name="Text 1"/>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chemeClr val="accent6"/>
                </a:solidFill>
              </a:rPr>
              <a:t>Wine Quality  |  Exploratory Data Analysis</a:t>
            </a:r>
            <a:endParaRPr lang="en-US" sz="10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3.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3.xml"/><Relationship Id="rId4"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
          <p:cNvSpPr/>
          <p:nvPr>
            <p:ph idx="101" type="title" hasCustomPrompt="1"/>
          </p:nvPr>
        </p:nvSpPr>
        <p:spPr>
          <a:xfrm>
            <a:off x="822960" y="2103120"/>
            <a:ext cx="6949440" cy="1645920"/>
          </a:xfrm>
          <a:prstGeom prst="rect">
            <a:avLst/>
          </a:prstGeom>
          <a:noFill/>
          <a:ln/>
        </p:spPr>
        <p:txBody>
          <a:bodyPr wrap="square" lIns="0" tIns="0" rIns="0" bIns="0" rtlCol="0" anchor="b"/>
          <a:lstStyle/>
          <a:p>
            <a:pPr algn="l" indent="0" marL="0">
              <a:buNone/>
            </a:pPr>
            <a:r>
              <a:rPr lang="en-US" sz="5200" b="1" dirty="0">
                <a:solidFill>
                  <a:schemeClr val="bg1"/>
                </a:solidFill>
              </a:rPr>
              <a:t>Problem Statement</a:t>
            </a:r>
            <a:endParaRPr lang="en-US" sz="5200" dirty="0"/>
          </a:p>
        </p:txBody>
      </p:sp>
      <p:sp>
        <p:nvSpPr>
          <p:cNvPr id="3" name="Text 1"/>
          <p:cNvSpPr/>
          <p:nvPr>
            <p:ph idx="102" type="body" hasCustomPrompt="1"/>
          </p:nvPr>
        </p:nvSpPr>
        <p:spPr>
          <a:xfrm>
            <a:off x="822960" y="3977640"/>
            <a:ext cx="6400800" cy="1097280"/>
          </a:xfrm>
          <a:prstGeom prst="rect">
            <a:avLst/>
          </a:prstGeom>
          <a:noFill/>
          <a:ln/>
        </p:spPr>
        <p:txBody>
          <a:bodyPr wrap="square" lIns="0" tIns="0" rIns="0" bIns="0" rtlCol="0" anchor="t"/>
          <a:lstStyle/>
          <a:p>
            <a:pPr algn="l" indent="0" marL="0">
              <a:buNone/>
            </a:pPr>
            <a:r>
              <a:rPr lang="en-US" sz="1800" dirty="0">
                <a:solidFill>
                  <a:schemeClr val="bg2"/>
                </a:solidFill>
              </a:rPr>
              <a:t>Exploratory analysis of physicochemical properties and quality in the WineQT dataset</a:t>
            </a:r>
            <a:endParaRPr lang="en-US" sz="1800" dirty="0"/>
          </a:p>
        </p:txBody>
      </p:sp>
      <p:sp>
        <p:nvSpPr>
          <p:cNvPr id="4" name="Title circle"/>
          <p:cNvSpPr/>
          <p:nvPr/>
        </p:nvSpPr>
        <p:spPr>
          <a:xfrm>
            <a:off x="8229600" y="1463040"/>
            <a:ext cx="3291840" cy="3291840"/>
          </a:xfrm>
          <a:prstGeom prst="ellipse">
            <a:avLst/>
          </a:prstGeom>
          <a:solidFill>
            <a:schemeClr val="accent1"/>
          </a:solidFill>
          <a:ln/>
        </p:spPr>
      </p:sp>
      <p:pic>
        <p:nvPicPr>
          <p:cNvPr id="5" name="Title wine glass icon" descr="Wine glass icon">    </p:cNvPr>
          <p:cNvPicPr>
            <a:picLocks noChangeAspect="1"/>
          </p:cNvPicPr>
          <p:nvPr/>
        </p:nvPicPr>
        <p:blipFill>
          <a:blip r:embed="rId1"/>
          <a:stretch>
            <a:fillRect/>
          </a:stretch>
        </p:blipFill>
        <p:spPr>
          <a:xfrm>
            <a:off x="9189720" y="2240280"/>
            <a:ext cx="1371600" cy="173736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22960"/>
          </a:xfrm>
          <a:prstGeom prst="rect">
            <a:avLst/>
          </a:prstGeom>
          <a:noFill/>
          <a:ln/>
        </p:spPr>
        <p:txBody>
          <a:bodyPr wrap="square" lIns="0" tIns="0" rIns="0" bIns="0" rtlCol="0" anchor="ctr"/>
          <a:lstStyle/>
          <a:p>
            <a:pPr algn="l" indent="0" marL="0">
              <a:buNone/>
            </a:pPr>
            <a:r>
              <a:rPr lang="en-US" sz="3600" b="1" dirty="0">
                <a:solidFill>
                  <a:schemeClr val="tx2"/>
                </a:solidFill>
              </a:rPr>
              <a:t>Background and problem</a:t>
            </a:r>
            <a:endParaRPr lang="en-US" sz="3600" dirty="0"/>
          </a:p>
        </p:txBody>
      </p:sp>
      <p:sp>
        <p:nvSpPr>
          <p:cNvPr id="3" name="Card 1"/>
          <p:cNvSpPr/>
          <p:nvPr/>
        </p:nvSpPr>
        <p:spPr>
          <a:xfrm>
            <a:off x="548640" y="1554480"/>
            <a:ext cx="5376672" cy="4297680"/>
          </a:xfrm>
          <a:prstGeom prst="roundRect">
            <a:avLst>
              <a:gd name="adj" fmla="val 2553"/>
            </a:avLst>
          </a:prstGeom>
          <a:solidFill>
            <a:schemeClr val="bg2"/>
          </a:solidFill>
          <a:ln/>
        </p:spPr>
      </p:sp>
      <p:sp>
        <p:nvSpPr>
          <p:cNvPr id="4" name="Background circle"/>
          <p:cNvSpPr/>
          <p:nvPr/>
        </p:nvSpPr>
        <p:spPr>
          <a:xfrm>
            <a:off x="914400" y="1874520"/>
            <a:ext cx="822960" cy="822960"/>
          </a:xfrm>
          <a:prstGeom prst="ellipse">
            <a:avLst/>
          </a:prstGeom>
          <a:solidFill>
            <a:schemeClr val="accent1"/>
          </a:solidFill>
          <a:ln/>
        </p:spPr>
      </p:sp>
      <p:pic>
        <p:nvPicPr>
          <p:cNvPr id="5" name="Background icon" descr="Background">    </p:cNvPr>
          <p:cNvPicPr>
            <a:picLocks noChangeAspect="1"/>
          </p:cNvPicPr>
          <p:nvPr/>
        </p:nvPicPr>
        <p:blipFill>
          <a:blip r:embed="rId1"/>
          <a:stretch>
            <a:fillRect/>
          </a:stretch>
        </p:blipFill>
        <p:spPr>
          <a:xfrm>
            <a:off x="1136599" y="2096719"/>
            <a:ext cx="378562" cy="378562"/>
          </a:xfrm>
          <a:prstGeom prst="rect">
            <a:avLst/>
          </a:prstGeom>
        </p:spPr>
      </p:pic>
      <p:sp>
        <p:nvSpPr>
          <p:cNvPr id="6" name="Text 3"/>
          <p:cNvSpPr txBox="1"/>
          <p:nvPr/>
        </p:nvSpPr>
        <p:spPr>
          <a:xfrm>
            <a:off x="1965960" y="2011680"/>
            <a:ext cx="3657600" cy="548640"/>
          </a:xfrm>
          <a:prstGeom prst="rect">
            <a:avLst/>
          </a:prstGeom>
          <a:noFill/>
          <a:ln/>
        </p:spPr>
        <p:txBody>
          <a:bodyPr wrap="square" lIns="0" tIns="0" rIns="0" bIns="0" rtlCol="0" anchor="ctr"/>
          <a:lstStyle/>
          <a:p>
            <a:pPr indent="0" marL="0">
              <a:buNone/>
            </a:pPr>
            <a:r>
              <a:rPr lang="en-US" sz="2400" b="1" dirty="0">
                <a:solidFill>
                  <a:schemeClr val="tx2"/>
                </a:solidFill>
              </a:rPr>
              <a:t>Background</a:t>
            </a:r>
            <a:endParaRPr lang="en-US" sz="2400" dirty="0"/>
          </a:p>
        </p:txBody>
      </p:sp>
      <p:sp>
        <p:nvSpPr>
          <p:cNvPr id="7" name="Text 4"/>
          <p:cNvSpPr txBox="1"/>
          <p:nvPr/>
        </p:nvSpPr>
        <p:spPr>
          <a:xfrm>
            <a:off x="914400" y="3017520"/>
            <a:ext cx="4663440" cy="2651760"/>
          </a:xfrm>
          <a:prstGeom prst="rect">
            <a:avLst/>
          </a:prstGeom>
          <a:noFill/>
          <a:ln/>
        </p:spPr>
        <p:txBody>
          <a:bodyPr wrap="square" lIns="0" tIns="0" rIns="0" bIns="0" rtlCol="0" anchor="t"/>
          <a:lstStyle/>
          <a:p>
            <a:pPr indent="0" marL="0">
              <a:buNone/>
            </a:pPr>
            <a:r>
              <a:rPr lang="en-US" sz="1800" dirty="0">
                <a:solidFill>
                  <a:schemeClr val="tx1"/>
                </a:solidFill>
              </a:rPr>
              <a:t>Wine quality is usually judged by human tasters, which is slow, subjective and costly to repeat at scale. Producers already measure chemical properties routinely, such as acidity, sugar, chlorides, sulphates and alcohol. If these measurements reliably relate to quality, they could support faster and more consistent assessment.</a:t>
            </a:r>
            <a:endParaRPr lang="en-US" sz="1800" dirty="0"/>
          </a:p>
        </p:txBody>
      </p:sp>
      <p:sp>
        <p:nvSpPr>
          <p:cNvPr id="8" name="Card 2"/>
          <p:cNvSpPr/>
          <p:nvPr/>
        </p:nvSpPr>
        <p:spPr>
          <a:xfrm>
            <a:off x="6263640" y="1554480"/>
            <a:ext cx="5376672" cy="4297680"/>
          </a:xfrm>
          <a:prstGeom prst="roundRect">
            <a:avLst>
              <a:gd name="adj" fmla="val 2553"/>
            </a:avLst>
          </a:prstGeom>
          <a:solidFill>
            <a:schemeClr val="bg2"/>
          </a:solidFill>
          <a:ln/>
        </p:spPr>
      </p:sp>
      <p:sp>
        <p:nvSpPr>
          <p:cNvPr id="9" name="The problem circle"/>
          <p:cNvSpPr/>
          <p:nvPr/>
        </p:nvSpPr>
        <p:spPr>
          <a:xfrm>
            <a:off x="6629400" y="1874520"/>
            <a:ext cx="822960" cy="822960"/>
          </a:xfrm>
          <a:prstGeom prst="ellipse">
            <a:avLst/>
          </a:prstGeom>
          <a:solidFill>
            <a:schemeClr val="accent1"/>
          </a:solidFill>
          <a:ln/>
        </p:spPr>
      </p:sp>
      <p:pic>
        <p:nvPicPr>
          <p:cNvPr id="10" name="The problem icon" descr="The problem">    </p:cNvPr>
          <p:cNvPicPr>
            <a:picLocks noChangeAspect="1"/>
          </p:cNvPicPr>
          <p:nvPr/>
        </p:nvPicPr>
        <p:blipFill>
          <a:blip r:embed="rId2"/>
          <a:stretch>
            <a:fillRect/>
          </a:stretch>
        </p:blipFill>
        <p:spPr>
          <a:xfrm>
            <a:off x="6851599" y="2096719"/>
            <a:ext cx="378562" cy="378562"/>
          </a:xfrm>
          <a:prstGeom prst="rect">
            <a:avLst/>
          </a:prstGeom>
        </p:spPr>
      </p:pic>
      <p:sp>
        <p:nvSpPr>
          <p:cNvPr id="11" name="Text 7"/>
          <p:cNvSpPr txBox="1"/>
          <p:nvPr/>
        </p:nvSpPr>
        <p:spPr>
          <a:xfrm>
            <a:off x="7680960" y="2011680"/>
            <a:ext cx="3657600" cy="548640"/>
          </a:xfrm>
          <a:prstGeom prst="rect">
            <a:avLst/>
          </a:prstGeom>
          <a:noFill/>
          <a:ln/>
        </p:spPr>
        <p:txBody>
          <a:bodyPr wrap="square" lIns="0" tIns="0" rIns="0" bIns="0" rtlCol="0" anchor="ctr"/>
          <a:lstStyle/>
          <a:p>
            <a:pPr indent="0" marL="0">
              <a:buNone/>
            </a:pPr>
            <a:r>
              <a:rPr lang="en-US" sz="2400" b="1" dirty="0">
                <a:solidFill>
                  <a:schemeClr val="tx2"/>
                </a:solidFill>
              </a:rPr>
              <a:t>The problem</a:t>
            </a:r>
            <a:endParaRPr lang="en-US" sz="2400" dirty="0"/>
          </a:p>
        </p:txBody>
      </p:sp>
      <p:sp>
        <p:nvSpPr>
          <p:cNvPr id="12" name="Text 8"/>
          <p:cNvSpPr txBox="1"/>
          <p:nvPr/>
        </p:nvSpPr>
        <p:spPr>
          <a:xfrm>
            <a:off x="6629400" y="3017520"/>
            <a:ext cx="4663440" cy="2651760"/>
          </a:xfrm>
          <a:prstGeom prst="rect">
            <a:avLst/>
          </a:prstGeom>
          <a:noFill/>
          <a:ln/>
        </p:spPr>
        <p:txBody>
          <a:bodyPr wrap="square" lIns="0" tIns="0" rIns="0" bIns="0" rtlCol="0" anchor="t"/>
          <a:lstStyle/>
          <a:p>
            <a:pPr indent="0" marL="0">
              <a:buNone/>
            </a:pPr>
            <a:r>
              <a:rPr lang="en-US" sz="1800" dirty="0">
                <a:solidFill>
                  <a:schemeClr val="tx1"/>
                </a:solidFill>
              </a:rPr>
              <a:t>Given 1,143 wine samples, each described by 11 physicochemical measurements and a quality score from 3 to 8, which properties are associated with higher or lower quality, and is the data ready for building a predictive model?</a:t>
            </a:r>
            <a:endParaRPr lang="en-US" sz="18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22960"/>
          </a:xfrm>
          <a:prstGeom prst="rect">
            <a:avLst/>
          </a:prstGeom>
          <a:noFill/>
          <a:ln/>
        </p:spPr>
        <p:txBody>
          <a:bodyPr wrap="square" lIns="0" tIns="0" rIns="0" bIns="0" rtlCol="0" anchor="ctr"/>
          <a:lstStyle/>
          <a:p>
            <a:pPr algn="l" indent="0" marL="0">
              <a:buNone/>
            </a:pPr>
            <a:r>
              <a:rPr lang="en-US" sz="3600" b="1" dirty="0">
                <a:solidFill>
                  <a:schemeClr val="tx2"/>
                </a:solidFill>
              </a:rPr>
              <a:t>Objectives</a:t>
            </a:r>
            <a:endParaRPr lang="en-US" sz="3600" dirty="0"/>
          </a:p>
        </p:txBody>
      </p:sp>
      <p:sp>
        <p:nvSpPr>
          <p:cNvPr id="3" name="Objective row 1"/>
          <p:cNvSpPr/>
          <p:nvPr/>
        </p:nvSpPr>
        <p:spPr>
          <a:xfrm>
            <a:off x="548640" y="1463040"/>
            <a:ext cx="11091672" cy="786384"/>
          </a:xfrm>
          <a:prstGeom prst="roundRect">
            <a:avLst>
              <a:gd name="adj" fmla="val 13953"/>
            </a:avLst>
          </a:prstGeom>
          <a:solidFill>
            <a:schemeClr val="bg2"/>
          </a:solidFill>
          <a:ln/>
        </p:spPr>
      </p:sp>
      <p:sp>
        <p:nvSpPr>
          <p:cNvPr id="4" name="Number circle 1"/>
          <p:cNvSpPr/>
          <p:nvPr/>
        </p:nvSpPr>
        <p:spPr>
          <a:xfrm>
            <a:off x="777240" y="1581912"/>
            <a:ext cx="548640" cy="548640"/>
          </a:xfrm>
          <a:prstGeom prst="ellipse">
            <a:avLst/>
          </a:prstGeom>
          <a:solidFill>
            <a:schemeClr val="accent1"/>
          </a:solidFill>
          <a:ln/>
        </p:spPr>
      </p:sp>
      <p:sp>
        <p:nvSpPr>
          <p:cNvPr id="5" name="Text 3"/>
          <p:cNvSpPr txBox="1"/>
          <p:nvPr/>
        </p:nvSpPr>
        <p:spPr>
          <a:xfrm>
            <a:off x="777240" y="1581912"/>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6" name="Text 4"/>
          <p:cNvSpPr txBox="1"/>
          <p:nvPr/>
        </p:nvSpPr>
        <p:spPr>
          <a:xfrm>
            <a:off x="1600200" y="1581912"/>
            <a:ext cx="3566160" cy="548640"/>
          </a:xfrm>
          <a:prstGeom prst="rect">
            <a:avLst/>
          </a:prstGeom>
          <a:noFill/>
          <a:ln/>
        </p:spPr>
        <p:txBody>
          <a:bodyPr wrap="square" lIns="0" tIns="0" rIns="0" bIns="0" rtlCol="0" anchor="ctr"/>
          <a:lstStyle/>
          <a:p>
            <a:pPr indent="0" marL="0">
              <a:buNone/>
            </a:pPr>
            <a:r>
              <a:rPr lang="en-US" sz="1800" b="1" dirty="0">
                <a:solidFill>
                  <a:schemeClr val="tx2"/>
                </a:solidFill>
              </a:rPr>
              <a:t>Inspect the data</a:t>
            </a:r>
            <a:endParaRPr lang="en-US" sz="1800" dirty="0"/>
          </a:p>
        </p:txBody>
      </p:sp>
      <p:sp>
        <p:nvSpPr>
          <p:cNvPr id="7" name="Text 5"/>
          <p:cNvSpPr txBox="1"/>
          <p:nvPr/>
        </p:nvSpPr>
        <p:spPr>
          <a:xfrm>
            <a:off x="5257800" y="1536192"/>
            <a:ext cx="6126480" cy="640080"/>
          </a:xfrm>
          <a:prstGeom prst="rect">
            <a:avLst/>
          </a:prstGeom>
          <a:noFill/>
          <a:ln/>
        </p:spPr>
        <p:txBody>
          <a:bodyPr wrap="square" lIns="0" tIns="0" rIns="0" bIns="0" rtlCol="0" anchor="ctr"/>
          <a:lstStyle/>
          <a:p>
            <a:pPr indent="0" marL="0">
              <a:buNone/>
            </a:pPr>
            <a:r>
              <a:rPr lang="en-US" sz="1500" dirty="0">
                <a:solidFill>
                  <a:schemeClr val="tx1"/>
                </a:solidFill>
              </a:rPr>
              <a:t>Check structure, missing values and duplicate rows.</a:t>
            </a:r>
            <a:endParaRPr lang="en-US" sz="1500" dirty="0"/>
          </a:p>
        </p:txBody>
      </p:sp>
      <p:sp>
        <p:nvSpPr>
          <p:cNvPr id="8" name="Objective row 2"/>
          <p:cNvSpPr/>
          <p:nvPr/>
        </p:nvSpPr>
        <p:spPr>
          <a:xfrm>
            <a:off x="548640" y="2377440"/>
            <a:ext cx="11091672" cy="786384"/>
          </a:xfrm>
          <a:prstGeom prst="roundRect">
            <a:avLst>
              <a:gd name="adj" fmla="val 13953"/>
            </a:avLst>
          </a:prstGeom>
          <a:solidFill>
            <a:schemeClr val="bg2"/>
          </a:solidFill>
          <a:ln/>
        </p:spPr>
      </p:sp>
      <p:sp>
        <p:nvSpPr>
          <p:cNvPr id="9" name="Number circle 2"/>
          <p:cNvSpPr/>
          <p:nvPr/>
        </p:nvSpPr>
        <p:spPr>
          <a:xfrm>
            <a:off x="777240" y="2496312"/>
            <a:ext cx="548640" cy="548640"/>
          </a:xfrm>
          <a:prstGeom prst="ellipse">
            <a:avLst/>
          </a:prstGeom>
          <a:solidFill>
            <a:schemeClr val="accent1"/>
          </a:solidFill>
          <a:ln/>
        </p:spPr>
      </p:sp>
      <p:sp>
        <p:nvSpPr>
          <p:cNvPr id="10" name="Text 8"/>
          <p:cNvSpPr txBox="1"/>
          <p:nvPr/>
        </p:nvSpPr>
        <p:spPr>
          <a:xfrm>
            <a:off x="777240" y="2496312"/>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11" name="Text 9"/>
          <p:cNvSpPr txBox="1"/>
          <p:nvPr/>
        </p:nvSpPr>
        <p:spPr>
          <a:xfrm>
            <a:off x="1600200" y="2496312"/>
            <a:ext cx="3566160" cy="548640"/>
          </a:xfrm>
          <a:prstGeom prst="rect">
            <a:avLst/>
          </a:prstGeom>
          <a:noFill/>
          <a:ln/>
        </p:spPr>
        <p:txBody>
          <a:bodyPr wrap="square" lIns="0" tIns="0" rIns="0" bIns="0" rtlCol="0" anchor="ctr"/>
          <a:lstStyle/>
          <a:p>
            <a:pPr indent="0" marL="0">
              <a:buNone/>
            </a:pPr>
            <a:r>
              <a:rPr lang="en-US" sz="1800" b="1" dirty="0">
                <a:solidFill>
                  <a:schemeClr val="tx2"/>
                </a:solidFill>
              </a:rPr>
              <a:t>Study distributions</a:t>
            </a:r>
            <a:endParaRPr lang="en-US" sz="1800" dirty="0"/>
          </a:p>
        </p:txBody>
      </p:sp>
      <p:sp>
        <p:nvSpPr>
          <p:cNvPr id="12" name="Text 10"/>
          <p:cNvSpPr txBox="1"/>
          <p:nvPr/>
        </p:nvSpPr>
        <p:spPr>
          <a:xfrm>
            <a:off x="5257800" y="2450592"/>
            <a:ext cx="6126480" cy="640080"/>
          </a:xfrm>
          <a:prstGeom prst="rect">
            <a:avLst/>
          </a:prstGeom>
          <a:noFill/>
          <a:ln/>
        </p:spPr>
        <p:txBody>
          <a:bodyPr wrap="square" lIns="0" tIns="0" rIns="0" bIns="0" rtlCol="0" anchor="ctr"/>
          <a:lstStyle/>
          <a:p>
            <a:pPr indent="0" marL="0">
              <a:buNone/>
            </a:pPr>
            <a:r>
              <a:rPr lang="en-US" sz="1500" dirty="0">
                <a:solidFill>
                  <a:schemeClr val="tx1"/>
                </a:solidFill>
              </a:rPr>
              <a:t>Examine each feature and the quality score, including skewness and class imbalance.</a:t>
            </a:r>
            <a:endParaRPr lang="en-US" sz="1500" dirty="0"/>
          </a:p>
        </p:txBody>
      </p:sp>
      <p:sp>
        <p:nvSpPr>
          <p:cNvPr id="13" name="Objective row 3"/>
          <p:cNvSpPr/>
          <p:nvPr/>
        </p:nvSpPr>
        <p:spPr>
          <a:xfrm>
            <a:off x="548640" y="3291840"/>
            <a:ext cx="11091672" cy="786384"/>
          </a:xfrm>
          <a:prstGeom prst="roundRect">
            <a:avLst>
              <a:gd name="adj" fmla="val 13953"/>
            </a:avLst>
          </a:prstGeom>
          <a:solidFill>
            <a:schemeClr val="bg2"/>
          </a:solidFill>
          <a:ln/>
        </p:spPr>
      </p:sp>
      <p:sp>
        <p:nvSpPr>
          <p:cNvPr id="14" name="Number circle 3"/>
          <p:cNvSpPr/>
          <p:nvPr/>
        </p:nvSpPr>
        <p:spPr>
          <a:xfrm>
            <a:off x="777240" y="3410712"/>
            <a:ext cx="548640" cy="548640"/>
          </a:xfrm>
          <a:prstGeom prst="ellipse">
            <a:avLst/>
          </a:prstGeom>
          <a:solidFill>
            <a:schemeClr val="accent1"/>
          </a:solidFill>
          <a:ln/>
        </p:spPr>
      </p:sp>
      <p:sp>
        <p:nvSpPr>
          <p:cNvPr id="15" name="Text 13"/>
          <p:cNvSpPr txBox="1"/>
          <p:nvPr/>
        </p:nvSpPr>
        <p:spPr>
          <a:xfrm>
            <a:off x="777240" y="3410712"/>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16" name="Text 14"/>
          <p:cNvSpPr txBox="1"/>
          <p:nvPr/>
        </p:nvSpPr>
        <p:spPr>
          <a:xfrm>
            <a:off x="1600200" y="3410712"/>
            <a:ext cx="3566160" cy="548640"/>
          </a:xfrm>
          <a:prstGeom prst="rect">
            <a:avLst/>
          </a:prstGeom>
          <a:noFill/>
          <a:ln/>
        </p:spPr>
        <p:txBody>
          <a:bodyPr wrap="square" lIns="0" tIns="0" rIns="0" bIns="0" rtlCol="0" anchor="ctr"/>
          <a:lstStyle/>
          <a:p>
            <a:pPr indent="0" marL="0">
              <a:buNone/>
            </a:pPr>
            <a:r>
              <a:rPr lang="en-US" sz="1800" b="1" dirty="0">
                <a:solidFill>
                  <a:schemeClr val="tx2"/>
                </a:solidFill>
              </a:rPr>
              <a:t>Compare across quality levels</a:t>
            </a:r>
            <a:endParaRPr lang="en-US" sz="1800" dirty="0"/>
          </a:p>
        </p:txBody>
      </p:sp>
      <p:sp>
        <p:nvSpPr>
          <p:cNvPr id="17" name="Text 15"/>
          <p:cNvSpPr txBox="1"/>
          <p:nvPr/>
        </p:nvSpPr>
        <p:spPr>
          <a:xfrm>
            <a:off x="5257800" y="3364992"/>
            <a:ext cx="6126480" cy="640080"/>
          </a:xfrm>
          <a:prstGeom prst="rect">
            <a:avLst/>
          </a:prstGeom>
          <a:noFill/>
          <a:ln/>
        </p:spPr>
        <p:txBody>
          <a:bodyPr wrap="square" lIns="0" tIns="0" rIns="0" bIns="0" rtlCol="0" anchor="ctr"/>
          <a:lstStyle/>
          <a:p>
            <a:pPr indent="0" marL="0">
              <a:buNone/>
            </a:pPr>
            <a:r>
              <a:rPr lang="en-US" sz="1500" dirty="0">
                <a:solidFill>
                  <a:schemeClr val="tx1"/>
                </a:solidFill>
              </a:rPr>
              <a:t>See how key features, especially alcohol, vary by quality.</a:t>
            </a:r>
            <a:endParaRPr lang="en-US" sz="1500" dirty="0"/>
          </a:p>
        </p:txBody>
      </p:sp>
      <p:sp>
        <p:nvSpPr>
          <p:cNvPr id="18" name="Objective row 4"/>
          <p:cNvSpPr/>
          <p:nvPr/>
        </p:nvSpPr>
        <p:spPr>
          <a:xfrm>
            <a:off x="548640" y="4206240"/>
            <a:ext cx="11091672" cy="786384"/>
          </a:xfrm>
          <a:prstGeom prst="roundRect">
            <a:avLst>
              <a:gd name="adj" fmla="val 13953"/>
            </a:avLst>
          </a:prstGeom>
          <a:solidFill>
            <a:schemeClr val="bg2"/>
          </a:solidFill>
          <a:ln/>
        </p:spPr>
      </p:sp>
      <p:sp>
        <p:nvSpPr>
          <p:cNvPr id="19" name="Number circle 4"/>
          <p:cNvSpPr/>
          <p:nvPr/>
        </p:nvSpPr>
        <p:spPr>
          <a:xfrm>
            <a:off x="777240" y="4325112"/>
            <a:ext cx="548640" cy="548640"/>
          </a:xfrm>
          <a:prstGeom prst="ellipse">
            <a:avLst/>
          </a:prstGeom>
          <a:solidFill>
            <a:schemeClr val="accent1"/>
          </a:solidFill>
          <a:ln/>
        </p:spPr>
      </p:sp>
      <p:sp>
        <p:nvSpPr>
          <p:cNvPr id="20" name="Text 18"/>
          <p:cNvSpPr txBox="1"/>
          <p:nvPr/>
        </p:nvSpPr>
        <p:spPr>
          <a:xfrm>
            <a:off x="777240" y="4325112"/>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4</a:t>
            </a:r>
            <a:endParaRPr lang="en-US" sz="2000" dirty="0"/>
          </a:p>
        </p:txBody>
      </p:sp>
      <p:sp>
        <p:nvSpPr>
          <p:cNvPr id="21" name="Text 19"/>
          <p:cNvSpPr txBox="1"/>
          <p:nvPr/>
        </p:nvSpPr>
        <p:spPr>
          <a:xfrm>
            <a:off x="1600200" y="4325112"/>
            <a:ext cx="3566160" cy="548640"/>
          </a:xfrm>
          <a:prstGeom prst="rect">
            <a:avLst/>
          </a:prstGeom>
          <a:noFill/>
          <a:ln/>
        </p:spPr>
        <p:txBody>
          <a:bodyPr wrap="square" lIns="0" tIns="0" rIns="0" bIns="0" rtlCol="0" anchor="ctr"/>
          <a:lstStyle/>
          <a:p>
            <a:pPr indent="0" marL="0">
              <a:buNone/>
            </a:pPr>
            <a:r>
              <a:rPr lang="en-US" sz="1800" b="1" dirty="0">
                <a:solidFill>
                  <a:schemeClr val="tx2"/>
                </a:solidFill>
              </a:rPr>
              <a:t>Measure correlations</a:t>
            </a:r>
            <a:endParaRPr lang="en-US" sz="1800" dirty="0"/>
          </a:p>
        </p:txBody>
      </p:sp>
      <p:sp>
        <p:nvSpPr>
          <p:cNvPr id="22" name="Text 20"/>
          <p:cNvSpPr txBox="1"/>
          <p:nvPr/>
        </p:nvSpPr>
        <p:spPr>
          <a:xfrm>
            <a:off x="5257800" y="4279392"/>
            <a:ext cx="6126480" cy="640080"/>
          </a:xfrm>
          <a:prstGeom prst="rect">
            <a:avLst/>
          </a:prstGeom>
          <a:noFill/>
          <a:ln/>
        </p:spPr>
        <p:txBody>
          <a:bodyPr wrap="square" lIns="0" tIns="0" rIns="0" bIns="0" rtlCol="0" anchor="ctr"/>
          <a:lstStyle/>
          <a:p>
            <a:pPr indent="0" marL="0">
              <a:buNone/>
            </a:pPr>
            <a:r>
              <a:rPr lang="en-US" sz="1500" dirty="0">
                <a:solidFill>
                  <a:schemeClr val="tx1"/>
                </a:solidFill>
              </a:rPr>
              <a:t>Relate each feature to quality and to the other features to find strong predictors and redundancy.</a:t>
            </a:r>
            <a:endParaRPr lang="en-US" sz="1500" dirty="0"/>
          </a:p>
        </p:txBody>
      </p:sp>
      <p:sp>
        <p:nvSpPr>
          <p:cNvPr id="23" name="Objective row 5"/>
          <p:cNvSpPr/>
          <p:nvPr/>
        </p:nvSpPr>
        <p:spPr>
          <a:xfrm>
            <a:off x="548640" y="5120640"/>
            <a:ext cx="11091672" cy="786384"/>
          </a:xfrm>
          <a:prstGeom prst="roundRect">
            <a:avLst>
              <a:gd name="adj" fmla="val 13953"/>
            </a:avLst>
          </a:prstGeom>
          <a:solidFill>
            <a:schemeClr val="bg2"/>
          </a:solidFill>
          <a:ln/>
        </p:spPr>
      </p:sp>
      <p:sp>
        <p:nvSpPr>
          <p:cNvPr id="24" name="Number circle 5"/>
          <p:cNvSpPr/>
          <p:nvPr/>
        </p:nvSpPr>
        <p:spPr>
          <a:xfrm>
            <a:off x="777240" y="5239512"/>
            <a:ext cx="548640" cy="548640"/>
          </a:xfrm>
          <a:prstGeom prst="ellipse">
            <a:avLst/>
          </a:prstGeom>
          <a:solidFill>
            <a:schemeClr val="accent1"/>
          </a:solidFill>
          <a:ln/>
        </p:spPr>
      </p:sp>
      <p:sp>
        <p:nvSpPr>
          <p:cNvPr id="25" name="Text 23"/>
          <p:cNvSpPr txBox="1"/>
          <p:nvPr/>
        </p:nvSpPr>
        <p:spPr>
          <a:xfrm>
            <a:off x="777240" y="5239512"/>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5</a:t>
            </a:r>
            <a:endParaRPr lang="en-US" sz="2000" dirty="0"/>
          </a:p>
        </p:txBody>
      </p:sp>
      <p:sp>
        <p:nvSpPr>
          <p:cNvPr id="26" name="Text 24"/>
          <p:cNvSpPr txBox="1"/>
          <p:nvPr/>
        </p:nvSpPr>
        <p:spPr>
          <a:xfrm>
            <a:off x="1600200" y="5239512"/>
            <a:ext cx="3566160" cy="548640"/>
          </a:xfrm>
          <a:prstGeom prst="rect">
            <a:avLst/>
          </a:prstGeom>
          <a:noFill/>
          <a:ln/>
        </p:spPr>
        <p:txBody>
          <a:bodyPr wrap="square" lIns="0" tIns="0" rIns="0" bIns="0" rtlCol="0" anchor="ctr"/>
          <a:lstStyle/>
          <a:p>
            <a:pPr indent="0" marL="0">
              <a:buNone/>
            </a:pPr>
            <a:r>
              <a:rPr lang="en-US" sz="1800" b="1" dirty="0">
                <a:solidFill>
                  <a:schemeClr val="tx2"/>
                </a:solidFill>
              </a:rPr>
              <a:t>Summarize and recommend</a:t>
            </a:r>
            <a:endParaRPr lang="en-US" sz="1800" dirty="0"/>
          </a:p>
        </p:txBody>
      </p:sp>
      <p:sp>
        <p:nvSpPr>
          <p:cNvPr id="27" name="Text 25"/>
          <p:cNvSpPr txBox="1"/>
          <p:nvPr/>
        </p:nvSpPr>
        <p:spPr>
          <a:xfrm>
            <a:off x="5257800" y="5193792"/>
            <a:ext cx="6126480" cy="640080"/>
          </a:xfrm>
          <a:prstGeom prst="rect">
            <a:avLst/>
          </a:prstGeom>
          <a:noFill/>
          <a:ln/>
        </p:spPr>
        <p:txBody>
          <a:bodyPr wrap="square" lIns="0" tIns="0" rIns="0" bIns="0" rtlCol="0" anchor="ctr"/>
          <a:lstStyle/>
          <a:p>
            <a:pPr indent="0" marL="0">
              <a:buNone/>
            </a:pPr>
            <a:r>
              <a:rPr lang="en-US" sz="1500" dirty="0">
                <a:solidFill>
                  <a:schemeClr val="tx1"/>
                </a:solidFill>
              </a:rPr>
              <a:t>Report findings and the preparation steps needed before modelling.</a:t>
            </a:r>
            <a:endParaRPr lang="en-US" sz="15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22960"/>
          </a:xfrm>
          <a:prstGeom prst="rect">
            <a:avLst/>
          </a:prstGeom>
          <a:noFill/>
          <a:ln/>
        </p:spPr>
        <p:txBody>
          <a:bodyPr wrap="square" lIns="0" tIns="0" rIns="0" bIns="0" rtlCol="0" anchor="ctr"/>
          <a:lstStyle/>
          <a:p>
            <a:pPr algn="l" indent="0" marL="0">
              <a:buNone/>
            </a:pPr>
            <a:r>
              <a:rPr lang="en-US" sz="3600" b="1" dirty="0">
                <a:solidFill>
                  <a:schemeClr val="tx2"/>
                </a:solidFill>
              </a:rPr>
              <a:t>Scope and expected outcome</a:t>
            </a:r>
            <a:endParaRPr lang="en-US" sz="3600" dirty="0"/>
          </a:p>
        </p:txBody>
      </p:sp>
      <p:sp>
        <p:nvSpPr>
          <p:cNvPr id="3" name="Scope card"/>
          <p:cNvSpPr/>
          <p:nvPr/>
        </p:nvSpPr>
        <p:spPr>
          <a:xfrm>
            <a:off x="548640" y="1554480"/>
            <a:ext cx="5376672" cy="4297680"/>
          </a:xfrm>
          <a:prstGeom prst="roundRect">
            <a:avLst>
              <a:gd name="adj" fmla="val 2553"/>
            </a:avLst>
          </a:prstGeom>
          <a:solidFill>
            <a:schemeClr val="bg2"/>
          </a:solidFill>
          <a:ln/>
        </p:spPr>
      </p:sp>
      <p:sp>
        <p:nvSpPr>
          <p:cNvPr id="4" name="Scope circle"/>
          <p:cNvSpPr/>
          <p:nvPr/>
        </p:nvSpPr>
        <p:spPr>
          <a:xfrm>
            <a:off x="914400" y="1874520"/>
            <a:ext cx="822960" cy="822960"/>
          </a:xfrm>
          <a:prstGeom prst="ellipse">
            <a:avLst/>
          </a:prstGeom>
          <a:solidFill>
            <a:schemeClr val="accent1"/>
          </a:solidFill>
          <a:ln/>
        </p:spPr>
      </p:sp>
      <p:pic>
        <p:nvPicPr>
          <p:cNvPr id="5" name="Scope icon" descr="Scope">    </p:cNvPr>
          <p:cNvPicPr>
            <a:picLocks noChangeAspect="1"/>
          </p:cNvPicPr>
          <p:nvPr/>
        </p:nvPicPr>
        <p:blipFill>
          <a:blip r:embed="rId1"/>
          <a:stretch>
            <a:fillRect/>
          </a:stretch>
        </p:blipFill>
        <p:spPr>
          <a:xfrm>
            <a:off x="1136599" y="2096719"/>
            <a:ext cx="378562" cy="378562"/>
          </a:xfrm>
          <a:prstGeom prst="rect">
            <a:avLst/>
          </a:prstGeom>
        </p:spPr>
      </p:pic>
      <p:sp>
        <p:nvSpPr>
          <p:cNvPr id="6" name="Text 3"/>
          <p:cNvSpPr txBox="1"/>
          <p:nvPr/>
        </p:nvSpPr>
        <p:spPr>
          <a:xfrm>
            <a:off x="1965960" y="2011680"/>
            <a:ext cx="3657600" cy="548640"/>
          </a:xfrm>
          <a:prstGeom prst="rect">
            <a:avLst/>
          </a:prstGeom>
          <a:noFill/>
          <a:ln/>
        </p:spPr>
        <p:txBody>
          <a:bodyPr wrap="square" lIns="0" tIns="0" rIns="0" bIns="0" rtlCol="0" anchor="ctr"/>
          <a:lstStyle/>
          <a:p>
            <a:pPr indent="0" marL="0">
              <a:buNone/>
            </a:pPr>
            <a:r>
              <a:rPr lang="en-US" sz="2400" b="1" dirty="0">
                <a:solidFill>
                  <a:schemeClr val="tx2"/>
                </a:solidFill>
              </a:rPr>
              <a:t>Scope</a:t>
            </a:r>
            <a:endParaRPr lang="en-US" sz="2400" dirty="0"/>
          </a:p>
        </p:txBody>
      </p:sp>
      <p:sp>
        <p:nvSpPr>
          <p:cNvPr id="7" name="Text 4"/>
          <p:cNvSpPr txBox="1"/>
          <p:nvPr/>
        </p:nvSpPr>
        <p:spPr>
          <a:xfrm>
            <a:off x="914400" y="3017520"/>
            <a:ext cx="4663440" cy="2651760"/>
          </a:xfrm>
          <a:prstGeom prst="rect">
            <a:avLst/>
          </a:prstGeom>
          <a:noFill/>
          <a:ln/>
        </p:spPr>
        <p:txBody>
          <a:bodyPr wrap="square" lIns="0" tIns="0" rIns="0" bIns="0" rtlCol="0" anchor="t"/>
          <a:lstStyle/>
          <a:p>
            <a:pPr indent="0" marL="0">
              <a:buNone/>
            </a:pPr>
            <a:r>
              <a:rPr lang="en-US" sz="1800" b="1" dirty="0">
                <a:solidFill>
                  <a:schemeClr val="accent1"/>
                </a:solidFill>
              </a:rPr>
              <a:t>In scope: </a:t>
            </a:r>
            <a:pPr indent="0" marL="0">
              <a:buNone/>
            </a:pPr>
            <a:r>
              <a:rPr lang="en-US" sz="1800" dirty="0">
                <a:solidFill>
                  <a:schemeClr val="tx1"/>
                </a:solidFill>
              </a:rPr>
              <a:t>exploratory data analysis in Python using pandas, matplotlib and seaborn.</a:t>
            </a:r>
            <a:endParaRPr lang="en-US" sz="1800" dirty="0"/>
          </a:p>
          <a:p>
            <a:pPr indent="0" marL="0">
              <a:buNone/>
            </a:pPr>
            <a:r>
              <a:rPr lang="en-US" sz="800" dirty="0">
                <a:solidFill>
                  <a:schemeClr val="tx1"/>
                </a:solidFill>
              </a:rPr>
              <a:t> </a:t>
            </a:r>
            <a:endParaRPr lang="en-US" sz="1800" dirty="0"/>
          </a:p>
          <a:p>
            <a:pPr indent="0" marL="0">
              <a:buNone/>
            </a:pPr>
            <a:r>
              <a:rPr lang="en-US" sz="1800" b="1" dirty="0">
                <a:solidFill>
                  <a:schemeClr val="accent1"/>
                </a:solidFill>
              </a:rPr>
              <a:t>Out of scope: </a:t>
            </a:r>
            <a:pPr indent="0" marL="0">
              <a:buNone/>
            </a:pPr>
            <a:r>
              <a:rPr lang="en-US" sz="1800" dirty="0">
                <a:solidFill>
                  <a:schemeClr val="tx1"/>
                </a:solidFill>
              </a:rPr>
              <a:t>building or evaluating a predictive model, which is proposed as the next phase.</a:t>
            </a:r>
            <a:endParaRPr lang="en-US" sz="1800" dirty="0"/>
          </a:p>
        </p:txBody>
      </p:sp>
      <p:sp>
        <p:nvSpPr>
          <p:cNvPr id="8" name="Outcome card"/>
          <p:cNvSpPr/>
          <p:nvPr/>
        </p:nvSpPr>
        <p:spPr>
          <a:xfrm>
            <a:off x="6263640" y="1554480"/>
            <a:ext cx="5376672" cy="4297680"/>
          </a:xfrm>
          <a:prstGeom prst="roundRect">
            <a:avLst>
              <a:gd name="adj" fmla="val 2553"/>
            </a:avLst>
          </a:prstGeom>
          <a:solidFill>
            <a:schemeClr val="bg2"/>
          </a:solidFill>
          <a:ln/>
        </p:spPr>
      </p:sp>
      <p:sp>
        <p:nvSpPr>
          <p:cNvPr id="9" name="Outcome circle"/>
          <p:cNvSpPr/>
          <p:nvPr/>
        </p:nvSpPr>
        <p:spPr>
          <a:xfrm>
            <a:off x="6629400" y="1874520"/>
            <a:ext cx="822960" cy="822960"/>
          </a:xfrm>
          <a:prstGeom prst="ellipse">
            <a:avLst/>
          </a:prstGeom>
          <a:solidFill>
            <a:schemeClr val="accent1"/>
          </a:solidFill>
          <a:ln/>
        </p:spPr>
      </p:sp>
      <p:pic>
        <p:nvPicPr>
          <p:cNvPr id="10" name="Outcome icon" descr="Outcome">    </p:cNvPr>
          <p:cNvPicPr>
            <a:picLocks noChangeAspect="1"/>
          </p:cNvPicPr>
          <p:nvPr/>
        </p:nvPicPr>
        <p:blipFill>
          <a:blip r:embed="rId2"/>
          <a:stretch>
            <a:fillRect/>
          </a:stretch>
        </p:blipFill>
        <p:spPr>
          <a:xfrm>
            <a:off x="6851599" y="2096719"/>
            <a:ext cx="378562" cy="378562"/>
          </a:xfrm>
          <a:prstGeom prst="rect">
            <a:avLst/>
          </a:prstGeom>
        </p:spPr>
      </p:pic>
      <p:sp>
        <p:nvSpPr>
          <p:cNvPr id="11" name="Text 7"/>
          <p:cNvSpPr txBox="1"/>
          <p:nvPr/>
        </p:nvSpPr>
        <p:spPr>
          <a:xfrm>
            <a:off x="7680960" y="2011680"/>
            <a:ext cx="3657600" cy="548640"/>
          </a:xfrm>
          <a:prstGeom prst="rect">
            <a:avLst/>
          </a:prstGeom>
          <a:noFill/>
          <a:ln/>
        </p:spPr>
        <p:txBody>
          <a:bodyPr wrap="square" lIns="0" tIns="0" rIns="0" bIns="0" rtlCol="0" anchor="ctr"/>
          <a:lstStyle/>
          <a:p>
            <a:pPr indent="0" marL="0">
              <a:buNone/>
            </a:pPr>
            <a:r>
              <a:rPr lang="en-US" sz="2400" b="1" dirty="0">
                <a:solidFill>
                  <a:schemeClr val="tx2"/>
                </a:solidFill>
              </a:rPr>
              <a:t>Expected outcome</a:t>
            </a:r>
            <a:endParaRPr lang="en-US" sz="2400" dirty="0"/>
          </a:p>
        </p:txBody>
      </p:sp>
      <p:sp>
        <p:nvSpPr>
          <p:cNvPr id="12" name="Text 8"/>
          <p:cNvSpPr txBox="1"/>
          <p:nvPr/>
        </p:nvSpPr>
        <p:spPr>
          <a:xfrm>
            <a:off x="6629400" y="3017520"/>
            <a:ext cx="4663440" cy="265176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chemeClr val="tx1"/>
                </a:solidFill>
              </a:rPr>
              <a:t>A clear view of which properties matter most for quality</a:t>
            </a:r>
            <a:endParaRPr lang="en-US" sz="1800" dirty="0"/>
          </a:p>
          <a:p>
            <a:pPr marL="342900" indent="-342900">
              <a:spcAft>
                <a:spcPts val="800"/>
              </a:spcAft>
              <a:buSzPct val="100000"/>
              <a:buChar char="•"/>
            </a:pPr>
            <a:r>
              <a:rPr lang="en-US" sz="1800" dirty="0">
                <a:solidFill>
                  <a:schemeClr val="tx1"/>
                </a:solidFill>
              </a:rPr>
              <a:t>The main data issues to fix before modelling: imbalanced scores, skewed and correlated features, and the unneeded Id column</a:t>
            </a:r>
            <a:endParaRPr lang="en-US" sz="1800" dirty="0"/>
          </a:p>
          <a:p>
            <a:pPr marL="342900" indent="-342900">
              <a:spcAft>
                <a:spcPts val="800"/>
              </a:spcAft>
              <a:buSzPct val="100000"/>
              <a:buChar char="•"/>
            </a:pPr>
            <a:r>
              <a:rPr lang="en-US" sz="1800" dirty="0">
                <a:solidFill>
                  <a:schemeClr val="tx1"/>
                </a:solidFill>
              </a:rPr>
              <a:t>A plan for the modelling stage</a:t>
            </a:r>
            <a:endParaRPr lang="en-US" sz="18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theme/theme1.xml><?xml version="1.0" encoding="utf-8"?>
<a:theme xmlns:a="http://schemas.openxmlformats.org/drawingml/2006/main" name="Wine Report">
  <a:themeElements>
    <a:clrScheme name="Wine Report">
      <a:dk1>
        <a:srgbClr val="2A1520"/>
      </a:dk1>
      <a:lt1>
        <a:srgbClr val="FFFFFF"/>
      </a:lt1>
      <a:dk2>
        <a:srgbClr val="5B1A2E"/>
      </a:dk2>
      <a:lt2>
        <a:srgbClr val="F8F1F3"/>
      </a:lt2>
      <a:accent1>
        <a:srgbClr val="8E2C48"/>
      </a:accent1>
      <a:accent2>
        <a:srgbClr val="C9A24D"/>
      </a:accent2>
      <a:accent3>
        <a:srgbClr val="5E7F5A"/>
      </a:accent3>
      <a:accent4>
        <a:srgbClr val="B85C6E"/>
      </a:accent4>
      <a:accent5>
        <a:srgbClr val="7A5C66"/>
      </a:accent5>
      <a:accent6>
        <a:srgbClr val="E3C9D0"/>
      </a:accent6>
      <a:hlink>
        <a:srgbClr val="8E2C48"/>
      </a:hlink>
      <a:folHlink>
        <a:srgbClr val="7A5C66"/>
      </a:folHlink>
    </a:clrScheme>
    <a:fontScheme name="Wine Repor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Slide 1</vt:lpstr>
      <vt:lpstr>Slide 2</vt:lpstr>
      <vt:lpstr>Slide 3</vt:lpstr>
      <vt:lpstr>Slide 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Wine Quality Analysis</dc:title>
  <dc:subject>PptxGenJS Presentation</dc:subject>
  <dc:creator>PptxGenJS</dc:creator>
  <cp:lastModifiedBy>PptxGenJS</cp:lastModifiedBy>
  <cp:revision>1</cp:revision>
  <dcterms:created xsi:type="dcterms:W3CDTF">2026-10-08T05:33:51Z</dcterms:created>
  <dcterms:modified xsi:type="dcterms:W3CDTF">2026-10-08T05:33:51Z</dcterms:modified>
</cp:coreProperties>
</file>